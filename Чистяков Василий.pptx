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3" r:id="rId3"/>
    <p:sldId id="261" r:id="rId4"/>
    <p:sldId id="262" r:id="rId5"/>
    <p:sldId id="267" r:id="rId6"/>
    <p:sldId id="257" r:id="rId7"/>
    <p:sldId id="266" r:id="rId8"/>
    <p:sldId id="258" r:id="rId9"/>
    <p:sldId id="268" r:id="rId10"/>
    <p:sldId id="259" r:id="rId11"/>
    <p:sldId id="260" r:id="rId12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 xmlns="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xmlns="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>
        <p:scale>
          <a:sx n="96" d="100"/>
          <a:sy n="96" d="100"/>
        </p:scale>
        <p:origin x="-178" y="8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xmlns="" id="{9AC77E42-C258-36EB-7F68-24AB10AC007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xmlns="" id="{A6BA66A8-70B2-A3E1-CD95-EFAF25A659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xmlns="" id="{336F5717-F079-EB67-B727-CE7E0D7429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F729AD-A660-4566-A42C-EDC458254716}" type="datetimeFigureOut">
              <a:rPr lang="ru-RU" smtClean="0"/>
              <a:t>04.12.2025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xmlns="" id="{1EC5BDC4-6A63-5495-F960-CB81C35860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xmlns="" id="{708EA643-B98F-3844-E273-902CC02C22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D87BD7-B8B4-46C1-ACB2-0F0C2925D08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7901553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xmlns="" id="{B49B899F-A312-3507-0690-92E263F511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xmlns="" id="{88C9658B-D7B0-40AE-0C27-C8DBC2EB100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xmlns="" id="{DA38CBF9-C383-DB7A-052F-82709952FB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F729AD-A660-4566-A42C-EDC458254716}" type="datetimeFigureOut">
              <a:rPr lang="ru-RU" smtClean="0"/>
              <a:t>04.12.2025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xmlns="" id="{5C6C2DD7-CC57-012E-DD67-95FD8E3CA0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xmlns="" id="{9C830D7E-5FC3-A734-72DE-B574A9AE63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D87BD7-B8B4-46C1-ACB2-0F0C2925D08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885962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xmlns="" id="{E619B071-EE4D-FD56-A53E-79A8EC4129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xmlns="" id="{8C4BAE31-18F7-F7FA-9BD9-6CEE2BEC072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xmlns="" id="{FBA8DABE-AFD3-2C52-96FB-5962C42435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F729AD-A660-4566-A42C-EDC458254716}" type="datetimeFigureOut">
              <a:rPr lang="ru-RU" smtClean="0"/>
              <a:t>04.12.2025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xmlns="" id="{C8560788-7CA2-B6CE-CAF2-C8AC187608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xmlns="" id="{66F82951-91BC-FA70-45F9-2E10AE727B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D87BD7-B8B4-46C1-ACB2-0F0C2925D08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2817260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xmlns="" id="{262A2C56-9556-3EC4-995B-9869813D53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xmlns="" id="{8EFAB2D1-8AA9-F7DC-58F4-81E5BD7A483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xmlns="" id="{34D149B7-12FA-7411-A826-AAB40655881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xmlns="" id="{5BE6BC08-447C-9E38-D0BB-8D20A6754A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F729AD-A660-4566-A42C-EDC458254716}" type="datetimeFigureOut">
              <a:rPr lang="ru-RU" smtClean="0"/>
              <a:t>04.12.2025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xmlns="" id="{19C25101-413B-7A3B-DCC0-EB54223228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xmlns="" id="{0DEB2C3E-3C74-5F2F-3E57-B77FA0383D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D87BD7-B8B4-46C1-ACB2-0F0C2925D08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8631329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xmlns="" id="{E43B0321-3C0F-2830-5840-1D8E5F441F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xmlns="" id="{B75A81EA-B0C1-7FA2-0CF8-1A3B2E6B003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xmlns="" id="{131EB527-5C85-1DEC-8084-2D79F5BBAE5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xmlns="" id="{532010B2-FBF6-436D-BE31-2BDD2219656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xmlns="" id="{D6871153-7071-FD32-56E3-ACB73FE1DBA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xmlns="" id="{7A14C830-8304-94ED-A9EE-83C0542F00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F729AD-A660-4566-A42C-EDC458254716}" type="datetimeFigureOut">
              <a:rPr lang="ru-RU" smtClean="0"/>
              <a:t>04.12.2025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xmlns="" id="{597D942F-3F70-9705-5C09-07322E0D06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xmlns="" id="{074CF8DB-3108-D696-89A8-62E4D8CF71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D87BD7-B8B4-46C1-ACB2-0F0C2925D08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5622629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xmlns="" id="{26F7BE18-6473-C828-7C51-4DD211A634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xmlns="" id="{EFBA2E29-F175-0E3C-E701-0652244BC0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F729AD-A660-4566-A42C-EDC458254716}" type="datetimeFigureOut">
              <a:rPr lang="ru-RU" smtClean="0"/>
              <a:t>04.12.2025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xmlns="" id="{A19DCB2D-0907-6AD2-644A-813B6085C2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xmlns="" id="{4B1A550B-565E-4647-ED1C-440522A705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D87BD7-B8B4-46C1-ACB2-0F0C2925D08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3648313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xmlns="" id="{A99D24C5-2325-5DDC-3662-3396A141A7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F729AD-A660-4566-A42C-EDC458254716}" type="datetimeFigureOut">
              <a:rPr lang="ru-RU" smtClean="0"/>
              <a:t>04.12.2025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xmlns="" id="{A5D49781-9C4E-AC10-3B31-44E855F3B0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xmlns="" id="{0261D6CE-D741-E616-FDD9-4E9270C4E6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D87BD7-B8B4-46C1-ACB2-0F0C2925D08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7738175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xmlns="" id="{ED4DBFC0-5FAF-A798-660A-AA74FC353F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xmlns="" id="{89699A82-B649-57A3-AECC-892145E177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xmlns="" id="{89157358-9712-7FE9-D634-D16817EB7D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xmlns="" id="{3781F3C2-6081-F47B-6811-4C82655E41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F729AD-A660-4566-A42C-EDC458254716}" type="datetimeFigureOut">
              <a:rPr lang="ru-RU" smtClean="0"/>
              <a:t>04.12.2025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xmlns="" id="{3F657484-BC94-FE2E-D52A-807F45BDEA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xmlns="" id="{F63BC5F8-CC8B-C0B5-7BE5-7D638C071B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D87BD7-B8B4-46C1-ACB2-0F0C2925D08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604619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xmlns="" id="{FBDC5B50-B3DE-3B9F-A17B-C231476AA1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xmlns="" id="{93563644-8F52-DF55-97E0-A62271D7D54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xmlns="" id="{5902632D-B753-F9AE-E4E1-6DD0E4E4915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xmlns="" id="{0A3C9342-6D54-5BEB-2215-9A5CB26308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F729AD-A660-4566-A42C-EDC458254716}" type="datetimeFigureOut">
              <a:rPr lang="ru-RU" smtClean="0"/>
              <a:t>04.12.2025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xmlns="" id="{6DBF430E-39E6-46DC-0B3F-3BA3A17047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xmlns="" id="{19648CAC-CBEF-813C-73DF-EEF9CA546D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D87BD7-B8B4-46C1-ACB2-0F0C2925D08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866267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xmlns="" id="{E82510B8-3F0A-3D8D-A5DC-82DB771435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xmlns="" id="{761BF829-D204-7AF1-8078-BA77D2F1EFC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xmlns="" id="{E3B3921F-70B0-FE8E-763C-E9C40723A4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F729AD-A660-4566-A42C-EDC458254716}" type="datetimeFigureOut">
              <a:rPr lang="ru-RU" smtClean="0"/>
              <a:t>04.12.2025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xmlns="" id="{8B60FAA7-1543-0C4A-188A-DB04C2A20D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xmlns="" id="{CDAD84FA-29E1-F93F-ACD4-69ED55812B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D87BD7-B8B4-46C1-ACB2-0F0C2925D08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3222881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xmlns="" id="{6FA0BCA4-323E-2211-92F0-D22B6ADEBD5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xmlns="" id="{52136ACF-89AD-3869-054F-7E9B1D1B187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xmlns="" id="{6B6AFD0E-6EB0-099F-5D51-4D1BCC751A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F729AD-A660-4566-A42C-EDC458254716}" type="datetimeFigureOut">
              <a:rPr lang="ru-RU" smtClean="0"/>
              <a:t>04.12.2025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xmlns="" id="{6A627CD8-E952-616F-F4DF-EDC407E807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xmlns="" id="{0F2174A0-57AD-FAF5-204D-4CB7954CC6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D87BD7-B8B4-46C1-ACB2-0F0C2925D08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8215941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xmlns="" id="{F31EC136-C24B-A7ED-5EE7-CE47B87629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xmlns="" id="{165F657C-258F-190F-B938-EE43FEBCF6F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xmlns="" id="{BE9D21DD-0FDE-6894-6BE1-A312DED0606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5F729AD-A660-4566-A42C-EDC458254716}" type="datetimeFigureOut">
              <a:rPr lang="ru-RU" smtClean="0"/>
              <a:t>04.12.2025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xmlns="" id="{5EDB71E8-D069-B2DA-5659-5C1C318A155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xmlns="" id="{3E6C122A-B2F4-2773-B624-E568D496E9E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ED87BD7-B8B4-46C1-ACB2-0F0C2925D08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367753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xmlns="" id="{9668C6EE-4079-F427-42AE-995E57E8BCC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47855" y="1510748"/>
            <a:ext cx="9461507" cy="2736163"/>
          </a:xfrm>
        </p:spPr>
        <p:txBody>
          <a:bodyPr>
            <a:noAutofit/>
          </a:bodyPr>
          <a:lstStyle/>
          <a:p>
            <a:r>
              <a:rPr lang="ru-RU" sz="54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ПМ 01. Разработка модулей программного обеспечения для компьютерных систем</a:t>
            </a:r>
            <a:endParaRPr lang="ru-RU" sz="5400" dirty="0"/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xmlns="" id="{99D6F154-AEB8-069F-07A5-F5162D23803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26407" y="5020640"/>
            <a:ext cx="9144000" cy="1655762"/>
          </a:xfrm>
        </p:spPr>
        <p:txBody>
          <a:bodyPr/>
          <a:lstStyle/>
          <a:p>
            <a:pPr algn="r"/>
            <a:r>
              <a:rPr lang="en-US" dirty="0"/>
              <a:t>C</a:t>
            </a:r>
            <a:r>
              <a:rPr lang="ru-RU" dirty="0" smtClean="0"/>
              <a:t>делал студент </a:t>
            </a:r>
            <a:endParaRPr lang="ru-RU" dirty="0"/>
          </a:p>
          <a:p>
            <a:pPr algn="r"/>
            <a:r>
              <a:rPr lang="ru-RU" dirty="0"/>
              <a:t>группы ИСП-323а </a:t>
            </a:r>
            <a:endParaRPr lang="ru-RU" dirty="0" smtClean="0"/>
          </a:p>
          <a:p>
            <a:pPr algn="r"/>
            <a:r>
              <a:rPr lang="ru-RU" dirty="0" smtClean="0"/>
              <a:t>Чистяков Василий </a:t>
            </a:r>
            <a:r>
              <a:rPr lang="ru-RU" dirty="0" err="1" smtClean="0"/>
              <a:t>Анатльевич</a:t>
            </a:r>
            <a:endParaRPr lang="ru-RU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xmlns="" id="{7F98F4B1-A000-552E-2AF9-1A856A11B7B0}"/>
              </a:ext>
            </a:extLst>
          </p:cNvPr>
          <p:cNvSpPr txBox="1"/>
          <p:nvPr/>
        </p:nvSpPr>
        <p:spPr>
          <a:xfrm>
            <a:off x="1273323" y="398119"/>
            <a:ext cx="981057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1800" b="1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Автономное профессиональное образовательное учреждение Вологодской области «Вологодский колледж связи и информационных технологий»</a:t>
            </a:r>
            <a:endParaRPr lang="ru-RU" sz="18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36791223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xmlns="" id="{503FD572-8FC8-B0FA-C49C-C046896FE4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Содержание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xmlns="" id="{3E42F224-6C29-2346-E2ED-D451905811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ru-RU" dirty="0"/>
              <a:t>Введение</a:t>
            </a:r>
          </a:p>
          <a:p>
            <a:pPr marL="514350" indent="-514350">
              <a:buFont typeface="+mj-lt"/>
              <a:buAutoNum type="arabicPeriod"/>
            </a:pPr>
            <a:r>
              <a:rPr lang="ru-RU" dirty="0"/>
              <a:t>Основная часть</a:t>
            </a:r>
          </a:p>
          <a:p>
            <a:pPr marL="514350" indent="-514350">
              <a:buFont typeface="+mj-lt"/>
              <a:buAutoNum type="arabicPeriod"/>
            </a:pPr>
            <a:r>
              <a:rPr lang="ru-RU" dirty="0"/>
              <a:t>Интерфейс приложения для</a:t>
            </a:r>
            <a:r>
              <a:rPr lang="en-US" dirty="0"/>
              <a:t> </a:t>
            </a:r>
            <a:r>
              <a:rPr lang="en-US" dirty="0" err="1"/>
              <a:t>deskto</a:t>
            </a:r>
            <a:endParaRPr lang="ru-RU" dirty="0"/>
          </a:p>
          <a:p>
            <a:pPr marL="514350" indent="-514350">
              <a:buFont typeface="+mj-lt"/>
              <a:buAutoNum type="arabicPeriod"/>
            </a:pPr>
            <a:r>
              <a:rPr lang="en-US" dirty="0" err="1"/>
              <a:t>WireFrame</a:t>
            </a:r>
            <a:r>
              <a:rPr lang="ru-RU" dirty="0"/>
              <a:t> для мобильного приложения</a:t>
            </a:r>
          </a:p>
          <a:p>
            <a:pPr marL="514350" indent="-514350">
              <a:buFont typeface="+mj-lt"/>
              <a:buAutoNum type="arabicPeriod"/>
            </a:pPr>
            <a:r>
              <a:rPr lang="ru-RU" dirty="0"/>
              <a:t>Интерфейс мобильного приложения</a:t>
            </a:r>
            <a:r>
              <a:rPr lang="en-US" dirty="0"/>
              <a:t> </a:t>
            </a:r>
            <a:r>
              <a:rPr lang="ru-RU" dirty="0"/>
              <a:t> </a:t>
            </a:r>
          </a:p>
          <a:p>
            <a:pPr marL="514350" indent="-514350">
              <a:buFont typeface="+mj-lt"/>
              <a:buAutoNum type="arabicPeriod"/>
            </a:pPr>
            <a:endParaRPr lang="ru-RU" dirty="0"/>
          </a:p>
          <a:p>
            <a:pPr marL="514350" indent="-514350">
              <a:buFont typeface="+mj-lt"/>
              <a:buAutoNum type="arabicPeriod"/>
            </a:pPr>
            <a:endParaRPr lang="ru-RU" dirty="0"/>
          </a:p>
          <a:p>
            <a:pPr marL="514350" indent="-514350">
              <a:buFont typeface="+mj-lt"/>
              <a:buAutoNum type="arabicPeriod"/>
            </a:pP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07651408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xmlns="" id="{6278F6C6-9B3E-C100-CEE2-383F336280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ru-RU" b="1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Введение</a:t>
            </a:r>
            <a:r>
              <a:rPr lang="ru-RU" b="1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/>
            </a:r>
            <a:br>
              <a:rPr lang="ru-RU" b="1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</a:b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xmlns="" id="{BD38BB13-87FC-64C8-0A5C-C8D1D1ECB9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26386" y="1403097"/>
            <a:ext cx="6545367" cy="4351338"/>
          </a:xfrm>
        </p:spPr>
        <p:txBody>
          <a:bodyPr>
            <a:normAutofit/>
          </a:bodyPr>
          <a:lstStyle/>
          <a:p>
            <a:pPr indent="0" algn="just">
              <a:lnSpc>
                <a:spcPct val="150000"/>
              </a:lnSpc>
              <a:spcAft>
                <a:spcPts val="800"/>
              </a:spcAft>
              <a:buNone/>
            </a:pPr>
            <a:r>
              <a:rPr lang="ru-RU" sz="1800" dirty="0">
                <a:effectLst/>
                <a:latin typeface="Times New Roman" pitchFamily="18" charset="0"/>
                <a:ea typeface="Calibri" panose="020F0502020204030204" pitchFamily="34" charset="0"/>
                <a:cs typeface="Times New Roman" pitchFamily="18" charset="0"/>
              </a:rPr>
              <a:t>Я </a:t>
            </a:r>
            <a:r>
              <a:rPr lang="ru-RU" sz="1800" dirty="0" smtClean="0">
                <a:effectLst/>
                <a:latin typeface="Times New Roman" pitchFamily="18" charset="0"/>
                <a:ea typeface="Calibri" panose="020F0502020204030204" pitchFamily="34" charset="0"/>
                <a:cs typeface="Times New Roman" pitchFamily="18" charset="0"/>
              </a:rPr>
              <a:t>проходил </a:t>
            </a:r>
            <a:r>
              <a:rPr lang="ru-RU" sz="1800" dirty="0">
                <a:effectLst/>
                <a:latin typeface="Times New Roman" pitchFamily="18" charset="0"/>
                <a:ea typeface="Calibri" panose="020F0502020204030204" pitchFamily="34" charset="0"/>
                <a:cs typeface="Times New Roman" pitchFamily="18" charset="0"/>
              </a:rPr>
              <a:t>практику в </a:t>
            </a:r>
            <a:r>
              <a:rPr lang="zh-CN" sz="1800" dirty="0">
                <a:effectLst/>
                <a:latin typeface="Times New Roman" pitchFamily="18" charset="0"/>
                <a:ea typeface="Times New Roman" panose="02020603050405020304" pitchFamily="18" charset="0"/>
                <a:cs typeface="Times New Roman" pitchFamily="18" charset="0"/>
              </a:rPr>
              <a:t>БУ ВО «Электронный регион»</a:t>
            </a:r>
            <a:r>
              <a:rPr lang="ru-RU" sz="1800" dirty="0">
                <a:effectLst/>
                <a:latin typeface="Times New Roman" pitchFamily="18" charset="0"/>
                <a:ea typeface="Calibri" panose="020F0502020204030204" pitchFamily="34" charset="0"/>
                <a:cs typeface="Times New Roman" pitchFamily="18" charset="0"/>
              </a:rPr>
              <a:t>.</a:t>
            </a:r>
          </a:p>
          <a:p>
            <a:pPr indent="0" algn="just">
              <a:lnSpc>
                <a:spcPct val="150000"/>
              </a:lnSpc>
              <a:spcAft>
                <a:spcPts val="800"/>
              </a:spcAft>
              <a:buNone/>
            </a:pPr>
            <a:r>
              <a:rPr lang="en-US" altLang="zh-CN" sz="1800" dirty="0" err="1">
                <a:latin typeface="Times New Roman" pitchFamily="18" charset="0"/>
                <a:cs typeface="Times New Roman" pitchFamily="18" charset="0"/>
              </a:rPr>
              <a:t>Основная</a:t>
            </a:r>
            <a:r>
              <a:rPr lang="en-US" altLang="zh-CN" sz="1800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altLang="zh-CN" sz="1800" dirty="0" err="1">
                <a:latin typeface="Times New Roman" pitchFamily="18" charset="0"/>
                <a:cs typeface="Times New Roman" pitchFamily="18" charset="0"/>
              </a:rPr>
              <a:t>цель</a:t>
            </a:r>
            <a:r>
              <a:rPr lang="en-US" altLang="zh-CN" sz="1800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altLang="zh-CN" sz="1800" dirty="0" err="1">
                <a:latin typeface="Times New Roman" pitchFamily="18" charset="0"/>
                <a:cs typeface="Times New Roman" pitchFamily="18" charset="0"/>
              </a:rPr>
              <a:t>учреждения</a:t>
            </a:r>
            <a:r>
              <a:rPr lang="en-US" altLang="zh-CN" sz="1800" dirty="0">
                <a:latin typeface="Times New Roman" pitchFamily="18" charset="0"/>
                <a:cs typeface="Times New Roman" pitchFamily="18" charset="0"/>
              </a:rPr>
              <a:t> — </a:t>
            </a:r>
            <a:r>
              <a:rPr lang="en-US" altLang="zh-CN" sz="1800" dirty="0" err="1">
                <a:latin typeface="Times New Roman" pitchFamily="18" charset="0"/>
                <a:cs typeface="Times New Roman" pitchFamily="18" charset="0"/>
              </a:rPr>
              <a:t>обеспечение</a:t>
            </a:r>
            <a:r>
              <a:rPr lang="en-US" altLang="zh-CN" sz="1800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altLang="zh-CN" sz="1800" dirty="0" err="1">
                <a:latin typeface="Times New Roman" pitchFamily="18" charset="0"/>
                <a:cs typeface="Times New Roman" pitchFamily="18" charset="0"/>
              </a:rPr>
              <a:t>реализации</a:t>
            </a:r>
            <a:r>
              <a:rPr lang="en-US" altLang="zh-CN" sz="1800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altLang="zh-CN" sz="1800" dirty="0" err="1">
                <a:latin typeface="Times New Roman" pitchFamily="18" charset="0"/>
                <a:cs typeface="Times New Roman" pitchFamily="18" charset="0"/>
              </a:rPr>
              <a:t>полномочий</a:t>
            </a:r>
            <a:r>
              <a:rPr lang="en-US" altLang="zh-CN" sz="1800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altLang="zh-CN" sz="1800" dirty="0" err="1">
                <a:latin typeface="Times New Roman" pitchFamily="18" charset="0"/>
                <a:cs typeface="Times New Roman" pitchFamily="18" charset="0"/>
              </a:rPr>
              <a:t>Министерства</a:t>
            </a:r>
            <a:r>
              <a:rPr lang="en-US" altLang="zh-CN" sz="1800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altLang="zh-CN" sz="1800" dirty="0" err="1">
                <a:latin typeface="Times New Roman" pitchFamily="18" charset="0"/>
                <a:cs typeface="Times New Roman" pitchFamily="18" charset="0"/>
              </a:rPr>
              <a:t>цифрового</a:t>
            </a:r>
            <a:r>
              <a:rPr lang="en-US" altLang="zh-CN" sz="1800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altLang="zh-CN" sz="1800" dirty="0" err="1">
                <a:latin typeface="Times New Roman" pitchFamily="18" charset="0"/>
                <a:cs typeface="Times New Roman" pitchFamily="18" charset="0"/>
              </a:rPr>
              <a:t>развития</a:t>
            </a:r>
            <a:r>
              <a:rPr lang="en-US" altLang="zh-CN" sz="1800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altLang="zh-CN" sz="1800" dirty="0" err="1">
                <a:latin typeface="Times New Roman" pitchFamily="18" charset="0"/>
                <a:cs typeface="Times New Roman" pitchFamily="18" charset="0"/>
              </a:rPr>
              <a:t>Вологодской</a:t>
            </a:r>
            <a:r>
              <a:rPr lang="en-US" altLang="zh-CN" sz="1800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altLang="zh-CN" sz="1800" dirty="0" err="1">
                <a:latin typeface="Times New Roman" pitchFamily="18" charset="0"/>
                <a:cs typeface="Times New Roman" pitchFamily="18" charset="0"/>
              </a:rPr>
              <a:t>области</a:t>
            </a:r>
            <a:r>
              <a:rPr lang="en-US" altLang="zh-CN" sz="1800" dirty="0">
                <a:latin typeface="Times New Roman" pitchFamily="18" charset="0"/>
                <a:cs typeface="Times New Roman" pitchFamily="18" charset="0"/>
              </a:rPr>
              <a:t> в </a:t>
            </a:r>
            <a:r>
              <a:rPr lang="en-US" altLang="zh-CN" sz="1800" dirty="0" err="1">
                <a:latin typeface="Times New Roman" pitchFamily="18" charset="0"/>
                <a:cs typeface="Times New Roman" pitchFamily="18" charset="0"/>
              </a:rPr>
              <a:t>сфере</a:t>
            </a:r>
            <a:r>
              <a:rPr lang="en-US" altLang="zh-CN" sz="1800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altLang="zh-CN" sz="1800" dirty="0" err="1">
                <a:latin typeface="Times New Roman" pitchFamily="18" charset="0"/>
                <a:cs typeface="Times New Roman" pitchFamily="18" charset="0"/>
              </a:rPr>
              <a:t>информационных</a:t>
            </a:r>
            <a:r>
              <a:rPr lang="en-US" altLang="zh-CN" sz="1800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altLang="zh-CN" sz="1800" dirty="0" err="1">
                <a:latin typeface="Times New Roman" pitchFamily="18" charset="0"/>
                <a:cs typeface="Times New Roman" pitchFamily="18" charset="0"/>
              </a:rPr>
              <a:t>технологий</a:t>
            </a:r>
            <a:r>
              <a:rPr lang="en-US" altLang="zh-CN" sz="1800" dirty="0" smtClean="0">
                <a:latin typeface="Times New Roman" pitchFamily="18" charset="0"/>
                <a:cs typeface="Times New Roman" pitchFamily="18" charset="0"/>
              </a:rPr>
              <a:t>.</a:t>
            </a:r>
            <a:endParaRPr lang="ru-RU" altLang="zh-CN" sz="1800" dirty="0" smtClean="0">
              <a:latin typeface="Times New Roman" pitchFamily="18" charset="0"/>
              <a:cs typeface="Times New Roman" pitchFamily="18" charset="0"/>
            </a:endParaRPr>
          </a:p>
          <a:p>
            <a:pPr indent="0" algn="just">
              <a:lnSpc>
                <a:spcPct val="150000"/>
              </a:lnSpc>
              <a:spcAft>
                <a:spcPts val="800"/>
              </a:spcAft>
              <a:buNone/>
            </a:pPr>
            <a:r>
              <a:rPr lang="zh-CN" sz="1800" dirty="0" smtClean="0">
                <a:effectLst/>
                <a:latin typeface="Times New Roman" pitchFamily="18" charset="0"/>
                <a:ea typeface="Times New Roman" panose="02020603050405020304" pitchFamily="18" charset="0"/>
                <a:cs typeface="Times New Roman" pitchFamily="18" charset="0"/>
              </a:rPr>
              <a:t>Вид деятельности: </a:t>
            </a:r>
            <a:r>
              <a:rPr lang="ru-RU" altLang="zh-CN" sz="1800" dirty="0">
                <a:latin typeface="Times New Roman" pitchFamily="18" charset="0"/>
                <a:ea typeface="Times New Roman" panose="02020603050405020304" pitchFamily="18" charset="0"/>
                <a:cs typeface="Times New Roman" pitchFamily="18" charset="0"/>
              </a:rPr>
              <a:t>Деятельность, связанная с использованием вычислительной техники и информационных технологий</a:t>
            </a:r>
            <a:r>
              <a:rPr lang="ru-RU" altLang="zh-CN" sz="1800" dirty="0" smtClean="0">
                <a:latin typeface="Times New Roman" pitchFamily="18" charset="0"/>
                <a:ea typeface="Times New Roman" panose="02020603050405020304" pitchFamily="18" charset="0"/>
                <a:cs typeface="Times New Roman" pitchFamily="18" charset="0"/>
              </a:rPr>
              <a:t>.</a:t>
            </a:r>
          </a:p>
          <a:p>
            <a:pPr indent="0" algn="just">
              <a:lnSpc>
                <a:spcPct val="150000"/>
              </a:lnSpc>
              <a:spcAft>
                <a:spcPts val="800"/>
              </a:spcAft>
              <a:buNone/>
            </a:pPr>
            <a:r>
              <a:rPr lang="zh-CN" sz="1800" dirty="0" smtClean="0">
                <a:effectLst/>
                <a:latin typeface="Times New Roman" pitchFamily="18" charset="0"/>
                <a:ea typeface="Times New Roman" panose="02020603050405020304" pitchFamily="18" charset="0"/>
                <a:cs typeface="Times New Roman" pitchFamily="18" charset="0"/>
              </a:rPr>
              <a:t>Сфера деятельности: Информационные технологии и их развитие в Вологодской области. </a:t>
            </a:r>
            <a:endParaRPr lang="ru-RU" sz="1800" dirty="0" smtClean="0">
              <a:effectLst/>
              <a:latin typeface="Times New Roman" pitchFamily="18" charset="0"/>
              <a:ea typeface="Calibri" panose="020F0502020204030204" pitchFamily="34" charset="0"/>
              <a:cs typeface="Times New Roman" pitchFamily="18" charset="0"/>
            </a:endParaRPr>
          </a:p>
          <a:p>
            <a:endParaRPr lang="ru-RU" dirty="0"/>
          </a:p>
        </p:txBody>
      </p:sp>
      <p:pic>
        <p:nvPicPr>
          <p:cNvPr id="1026" name="Picture 2" descr="Picture background">
            <a:extLst>
              <a:ext uri="{FF2B5EF4-FFF2-40B4-BE49-F238E27FC236}">
                <a16:creationId xmlns:a16="http://schemas.microsoft.com/office/drawing/2014/main" xmlns="" id="{85FF5FA8-5358-98F3-8FDB-587C911A16F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151" r="24320"/>
          <a:stretch/>
        </p:blipFill>
        <p:spPr bwMode="auto">
          <a:xfrm>
            <a:off x="1194159" y="1466707"/>
            <a:ext cx="2582711" cy="34098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3620045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xmlns="" id="{E07361BF-92E6-E144-15FE-DAFAC26EC8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ru-RU" b="1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Основная часть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xmlns="" id="{629AC7A4-7F55-03EE-FCC5-97611BBC9FD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46151" y="1809722"/>
            <a:ext cx="8186531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1800" dirty="0">
                <a:latin typeface="Times New Roman" pitchFamily="18" charset="0"/>
                <a:cs typeface="Times New Roman" pitchFamily="18" charset="0"/>
              </a:rPr>
              <a:t>Охрана труда (ОТ) и техника безопасности — важнейшие направления, обеспечивающие защиту жизни и здоровья работников на производстве и в офисных условиях</a:t>
            </a:r>
            <a:r>
              <a:rPr lang="ru-RU" sz="1800" dirty="0" smtClean="0">
                <a:latin typeface="Times New Roman" pitchFamily="18" charset="0"/>
                <a:cs typeface="Times New Roman" pitchFamily="18" charset="0"/>
              </a:rPr>
              <a:t>.</a:t>
            </a:r>
          </a:p>
          <a:p>
            <a:pPr marL="0" indent="0">
              <a:buNone/>
            </a:pPr>
            <a:r>
              <a:rPr lang="ru-RU" sz="1800" dirty="0">
                <a:latin typeface="Times New Roman" pitchFamily="18" charset="0"/>
                <a:cs typeface="Times New Roman" pitchFamily="18" charset="0"/>
              </a:rPr>
              <a:t>Цели:</a:t>
            </a:r>
          </a:p>
          <a:p>
            <a:pPr lvl="0"/>
            <a:r>
              <a:rPr lang="ru-RU" sz="1800" dirty="0">
                <a:latin typeface="Times New Roman" pitchFamily="18" charset="0"/>
                <a:cs typeface="Times New Roman" pitchFamily="18" charset="0"/>
              </a:rPr>
              <a:t>Создание безопасных условий труда.</a:t>
            </a:r>
          </a:p>
          <a:p>
            <a:pPr lvl="0"/>
            <a:r>
              <a:rPr lang="ru-RU" sz="1800" dirty="0">
                <a:latin typeface="Times New Roman" pitchFamily="18" charset="0"/>
                <a:cs typeface="Times New Roman" pitchFamily="18" charset="0"/>
              </a:rPr>
              <a:t>Обеспечение безопасности рабочих процессов.</a:t>
            </a:r>
          </a:p>
          <a:p>
            <a:pPr lvl="0"/>
            <a:r>
              <a:rPr lang="ru-RU" sz="1800" dirty="0">
                <a:latin typeface="Times New Roman" pitchFamily="18" charset="0"/>
                <a:cs typeface="Times New Roman" pitchFamily="18" charset="0"/>
              </a:rPr>
              <a:t>Предотвращение несчастных случаев.</a:t>
            </a:r>
          </a:p>
          <a:p>
            <a:pPr lvl="0"/>
            <a:r>
              <a:rPr lang="ru-RU" sz="1800" dirty="0">
                <a:latin typeface="Times New Roman" pitchFamily="18" charset="0"/>
                <a:cs typeface="Times New Roman" pitchFamily="18" charset="0"/>
              </a:rPr>
              <a:t>Формирование культуры безопасности среди работников.</a:t>
            </a:r>
          </a:p>
        </p:txBody>
      </p:sp>
    </p:spTree>
    <p:extLst>
      <p:ext uri="{BB962C8B-B14F-4D97-AF65-F5344CB8AC3E}">
        <p14:creationId xmlns:p14="http://schemas.microsoft.com/office/powerpoint/2010/main" val="153438094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 smtClean="0">
                <a:latin typeface="Times New Roman" pitchFamily="18" charset="0"/>
                <a:cs typeface="Times New Roman" pitchFamily="18" charset="0"/>
              </a:rPr>
              <a:t>Основная функция </a:t>
            </a:r>
            <a:r>
              <a:rPr lang="en-US" b="1" dirty="0" err="1" smtClean="0">
                <a:latin typeface="Times New Roman" pitchFamily="18" charset="0"/>
                <a:cs typeface="Times New Roman" pitchFamily="18" charset="0"/>
              </a:rPr>
              <a:t>desctop</a:t>
            </a:r>
            <a:r>
              <a:rPr lang="en-US" b="1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ru-RU" b="1" dirty="0" smtClean="0">
                <a:latin typeface="Times New Roman" pitchFamily="18" charset="0"/>
                <a:cs typeface="Times New Roman" pitchFamily="18" charset="0"/>
              </a:rPr>
              <a:t>приложения</a:t>
            </a:r>
            <a:endParaRPr lang="ru-RU" b="1" dirty="0">
              <a:latin typeface="Times New Roman" pitchFamily="18" charset="0"/>
              <a:cs typeface="Times New Roman" pitchFamily="18" charset="0"/>
            </a:endParaRPr>
          </a:p>
        </p:txBody>
      </p:sp>
      <p:pic>
        <p:nvPicPr>
          <p:cNvPr id="4" name="Объект 3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96594" y="1630018"/>
            <a:ext cx="5474836" cy="4038062"/>
          </a:xfrm>
          <a:prstGeom prst="rect">
            <a:avLst/>
          </a:prstGeom>
        </p:spPr>
      </p:pic>
      <p:pic>
        <p:nvPicPr>
          <p:cNvPr id="5" name="Рисунок 4"/>
          <p:cNvPicPr/>
          <p:nvPr/>
        </p:nvPicPr>
        <p:blipFill>
          <a:blip r:embed="rId3"/>
          <a:stretch>
            <a:fillRect/>
          </a:stretch>
        </p:blipFill>
        <p:spPr>
          <a:xfrm>
            <a:off x="6096000" y="1858010"/>
            <a:ext cx="5274310" cy="31419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318300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xmlns="" id="{89ACB7A4-571D-6C50-E813-82BB071619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>
                <a:latin typeface="Times New Roman" pitchFamily="18" charset="0"/>
                <a:cs typeface="Times New Roman" pitchFamily="18" charset="0"/>
              </a:rPr>
              <a:t>Интерфейс приложения для</a:t>
            </a:r>
            <a:r>
              <a:rPr lang="en-US" b="1" dirty="0">
                <a:latin typeface="Times New Roman" pitchFamily="18" charset="0"/>
                <a:cs typeface="Times New Roman" pitchFamily="18" charset="0"/>
              </a:rPr>
              <a:t> desktop</a:t>
            </a:r>
            <a:r>
              <a:rPr lang="ru-RU" b="1" dirty="0">
                <a:latin typeface="Times New Roman" pitchFamily="18" charset="0"/>
                <a:cs typeface="Times New Roman" pitchFamily="18" charset="0"/>
              </a:rPr>
              <a:t> </a:t>
            </a:r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28228" y="1596959"/>
            <a:ext cx="5809313" cy="453349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146114557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ru-RU" b="1" dirty="0" smtClean="0">
                <a:latin typeface="Times New Roman" pitchFamily="18" charset="0"/>
                <a:cs typeface="Times New Roman" pitchFamily="18" charset="0"/>
              </a:rPr>
              <a:t>Процесс конвертации файла </a:t>
            </a:r>
            <a:endParaRPr lang="ru-RU" b="1" dirty="0">
              <a:latin typeface="Times New Roman" pitchFamily="18" charset="0"/>
              <a:cs typeface="Times New Roman" pitchFamily="18" charset="0"/>
            </a:endParaRPr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17028" y="1468595"/>
            <a:ext cx="6128190" cy="455243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389510936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xmlns="" id="{C57DB910-1141-77D6-AAC0-F2670C047B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 err="1">
                <a:latin typeface="Times New Roman" pitchFamily="18" charset="0"/>
                <a:cs typeface="Times New Roman" pitchFamily="18" charset="0"/>
              </a:rPr>
              <a:t>WireFrame</a:t>
            </a:r>
            <a:r>
              <a:rPr lang="ru-RU" b="1" dirty="0">
                <a:latin typeface="Times New Roman" pitchFamily="18" charset="0"/>
                <a:cs typeface="Times New Roman" pitchFamily="18" charset="0"/>
              </a:rPr>
              <a:t> для мобильного приложения</a:t>
            </a:r>
            <a:r>
              <a:rPr lang="en-US" b="1" dirty="0">
                <a:latin typeface="Times New Roman" pitchFamily="18" charset="0"/>
                <a:cs typeface="Times New Roman" pitchFamily="18" charset="0"/>
              </a:rPr>
              <a:t> </a:t>
            </a:r>
            <a:endParaRPr lang="ru-RU" b="1" dirty="0">
              <a:latin typeface="Times New Roman" pitchFamily="18" charset="0"/>
              <a:cs typeface="Times New Roman" pitchFamily="18" charset="0"/>
            </a:endParaRPr>
          </a:p>
        </p:txBody>
      </p:sp>
      <p:pic>
        <p:nvPicPr>
          <p:cNvPr id="4" name="Рисунок 3"/>
          <p:cNvPicPr/>
          <p:nvPr/>
        </p:nvPicPr>
        <p:blipFill>
          <a:blip r:embed="rId2"/>
          <a:stretch>
            <a:fillRect/>
          </a:stretch>
        </p:blipFill>
        <p:spPr>
          <a:xfrm>
            <a:off x="3797508" y="1272208"/>
            <a:ext cx="4209456" cy="54227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329370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ru-RU" b="1" dirty="0" smtClean="0">
                <a:latin typeface="Times New Roman" pitchFamily="18" charset="0"/>
                <a:cs typeface="Times New Roman" pitchFamily="18" charset="0"/>
              </a:rPr>
              <a:t>Основная функция мобильного приложения добавление точек на карту</a:t>
            </a:r>
            <a:endParaRPr lang="ru-RU" b="1" dirty="0">
              <a:latin typeface="Times New Roman" pitchFamily="18" charset="0"/>
              <a:cs typeface="Times New Roman" pitchFamily="18" charset="0"/>
            </a:endParaRPr>
          </a:p>
        </p:txBody>
      </p:sp>
      <p:pic>
        <p:nvPicPr>
          <p:cNvPr id="4" name="Объект 3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764307" y="1825625"/>
            <a:ext cx="4663386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309390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xmlns="" id="{B6077075-76F6-5BB6-A6F6-C2C9370F23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>
                <a:latin typeface="Times New Roman" pitchFamily="18" charset="0"/>
                <a:cs typeface="Times New Roman" pitchFamily="18" charset="0"/>
              </a:rPr>
              <a:t>Интерфейс мобильного приложения</a:t>
            </a:r>
          </a:p>
        </p:txBody>
      </p:sp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22151" y="1383526"/>
            <a:ext cx="2185441" cy="497751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57292609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xmlns="" id="{204AA399-A15B-4AFB-4983-7A8F6800EB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ru-RU" b="1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Заключение</a:t>
            </a:r>
            <a:r>
              <a:rPr lang="ru-RU" b="1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/>
            </a:r>
            <a:br>
              <a:rPr lang="ru-RU" b="1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</a:b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xmlns="" id="{584EAE41-4102-B565-8727-86BD50D0CB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ru-RU" sz="1800" dirty="0">
                <a:latin typeface="Times New Roman" pitchFamily="18" charset="0"/>
                <a:cs typeface="Times New Roman" pitchFamily="18" charset="0"/>
              </a:rPr>
              <a:t>В ходе прохождения практики с 27 октября до 5 декабря на предприятии </a:t>
            </a:r>
            <a:r>
              <a:rPr lang="en-US" altLang="zh-CN" sz="1800" dirty="0">
                <a:latin typeface="Times New Roman" pitchFamily="18" charset="0"/>
                <a:cs typeface="Times New Roman" pitchFamily="18" charset="0"/>
              </a:rPr>
              <a:t>БУ ВО «</a:t>
            </a:r>
            <a:r>
              <a:rPr lang="en-US" altLang="zh-CN" sz="1800" dirty="0" err="1">
                <a:latin typeface="Times New Roman" pitchFamily="18" charset="0"/>
                <a:cs typeface="Times New Roman" pitchFamily="18" charset="0"/>
              </a:rPr>
              <a:t>Электронный</a:t>
            </a:r>
            <a:r>
              <a:rPr lang="en-US" altLang="zh-CN" sz="1800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altLang="zh-CN" sz="1800" dirty="0" err="1">
                <a:latin typeface="Times New Roman" pitchFamily="18" charset="0"/>
                <a:cs typeface="Times New Roman" pitchFamily="18" charset="0"/>
              </a:rPr>
              <a:t>регион</a:t>
            </a:r>
            <a:r>
              <a:rPr lang="en-US" altLang="zh-CN" sz="1800" dirty="0">
                <a:latin typeface="Times New Roman" pitchFamily="18" charset="0"/>
                <a:cs typeface="Times New Roman" pitchFamily="18" charset="0"/>
              </a:rPr>
              <a:t>» </a:t>
            </a:r>
            <a:r>
              <a:rPr lang="ru-RU" sz="1800" dirty="0">
                <a:latin typeface="Times New Roman" pitchFamily="18" charset="0"/>
                <a:cs typeface="Times New Roman" pitchFamily="18" charset="0"/>
              </a:rPr>
              <a:t>я ознакомился с деятельностью предприятия. </a:t>
            </a:r>
            <a:r>
              <a:rPr lang="ru-RU" sz="1800" dirty="0" smtClean="0">
                <a:latin typeface="Times New Roman" pitchFamily="18" charset="0"/>
                <a:cs typeface="Times New Roman" pitchFamily="18" charset="0"/>
              </a:rPr>
              <a:t>В </a:t>
            </a:r>
            <a:r>
              <a:rPr lang="ru-RU" sz="1800" dirty="0">
                <a:latin typeface="Times New Roman" pitchFamily="18" charset="0"/>
                <a:cs typeface="Times New Roman" pitchFamily="18" charset="0"/>
              </a:rPr>
              <a:t>процессе выполнения задач поставленных мне на предприятии я приобрел практические знания в сфере разработки и поддержки ПО на реальных задачах, а также закрепил теоритические и практические знания, полученные в ходе обучения</a:t>
            </a:r>
            <a:r>
              <a:rPr lang="ru-RU" sz="1800" dirty="0" smtClean="0">
                <a:latin typeface="Times New Roman" pitchFamily="18" charset="0"/>
                <a:cs typeface="Times New Roman" pitchFamily="18" charset="0"/>
              </a:rPr>
              <a:t>. А также выполнил индивидуальное задание.</a:t>
            </a:r>
            <a:endParaRPr lang="ru-RU" dirty="0">
              <a:latin typeface="Times New Roman" pitchFamily="18" charset="0"/>
              <a:cs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5997835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xmlns="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107</TotalTime>
  <Words>243</Words>
  <Application>Microsoft Office PowerPoint</Application>
  <PresentationFormat>Произвольный</PresentationFormat>
  <Paragraphs>32</Paragraphs>
  <Slides>11</Slides>
  <Notes>0</Notes>
  <HiddenSlides>0</HiddenSlides>
  <MMClips>0</MMClips>
  <ScaleCrop>false</ScaleCrop>
  <HeadingPairs>
    <vt:vector size="4" baseType="variant"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11</vt:i4>
      </vt:variant>
    </vt:vector>
  </HeadingPairs>
  <TitlesOfParts>
    <vt:vector size="12" baseType="lpstr">
      <vt:lpstr>Тема Office</vt:lpstr>
      <vt:lpstr>ПМ 01. Разработка модулей программного обеспечения для компьютерных систем</vt:lpstr>
      <vt:lpstr>Содержание</vt:lpstr>
      <vt:lpstr>Введение </vt:lpstr>
      <vt:lpstr>Основная часть</vt:lpstr>
      <vt:lpstr>Основная функция desctop приложения</vt:lpstr>
      <vt:lpstr>Интерфейс приложения для desktop </vt:lpstr>
      <vt:lpstr>Процесс конвертации файла </vt:lpstr>
      <vt:lpstr>WireFrame для мобильного приложения </vt:lpstr>
      <vt:lpstr>Основная функция мобильного приложения добавление точек на карту</vt:lpstr>
      <vt:lpstr>Интерфейс мобильного приложения</vt:lpstr>
      <vt:lpstr>Заключение 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ПМ 01. Разработка модулей программного обеспечения для компьютерных систем</dc:title>
  <dc:creator>salevan .</dc:creator>
  <cp:lastModifiedBy>Пользователь Acer</cp:lastModifiedBy>
  <cp:revision>6</cp:revision>
  <dcterms:created xsi:type="dcterms:W3CDTF">2025-12-02T10:00:43Z</dcterms:created>
  <dcterms:modified xsi:type="dcterms:W3CDTF">2025-12-04T17:33:12Z</dcterms:modified>
</cp:coreProperties>
</file>